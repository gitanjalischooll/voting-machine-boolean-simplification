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  <p:sldId id="266" r:id="rId12"/>
    <p:sldId id="267" r:id="rId13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107" d="100"/>
          <a:sy n="107" d="100"/>
        </p:scale>
        <p:origin x="17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" name="Google Shape;17;p1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8" name="Google Shape;18;p13"/>
          <p:cNvSpPr txBox="1">
            <a:spLocks noGrp="1"/>
          </p:cNvSpPr>
          <p:nvPr>
            <p:ph type="dt" idx="10"/>
          </p:nvPr>
        </p:nvSpPr>
        <p:spPr>
          <a:xfrm>
            <a:off x="457200" y="6381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9" name="Google Shape;19;p13"/>
          <p:cNvSpPr txBox="1">
            <a:spLocks noGrp="1"/>
          </p:cNvSpPr>
          <p:nvPr>
            <p:ph type="ftr" idx="11"/>
          </p:nvPr>
        </p:nvSpPr>
        <p:spPr>
          <a:xfrm>
            <a:off x="3122488" y="6373546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20" name="Google Shape;20;p13"/>
          <p:cNvSpPr txBox="1">
            <a:spLocks noGrp="1"/>
          </p:cNvSpPr>
          <p:nvPr>
            <p:ph type="sldNum" idx="12"/>
          </p:nvPr>
        </p:nvSpPr>
        <p:spPr>
          <a:xfrm>
            <a:off x="6553200" y="637354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Title and Conten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>
            <a:spLocks noGrp="1"/>
          </p:cNvSpPr>
          <p:nvPr>
            <p:ph type="title"/>
          </p:nvPr>
        </p:nvSpPr>
        <p:spPr>
          <a:xfrm>
            <a:off x="457200" y="12954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3" name="Google Shape;23;p14"/>
          <p:cNvSpPr txBox="1">
            <a:spLocks noGrp="1"/>
          </p:cNvSpPr>
          <p:nvPr>
            <p:ph type="body" idx="1"/>
          </p:nvPr>
        </p:nvSpPr>
        <p:spPr>
          <a:xfrm>
            <a:off x="457200" y="2286000"/>
            <a:ext cx="8229600" cy="4070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❑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4" name="Google Shape;24;p14"/>
          <p:cNvSpPr txBox="1">
            <a:spLocks noGrp="1"/>
          </p:cNvSpPr>
          <p:nvPr>
            <p:ph type="dt" idx="10"/>
          </p:nvPr>
        </p:nvSpPr>
        <p:spPr>
          <a:xfrm>
            <a:off x="457200" y="6381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25" name="Google Shape;25;p14"/>
          <p:cNvSpPr txBox="1">
            <a:spLocks noGrp="1"/>
          </p:cNvSpPr>
          <p:nvPr>
            <p:ph type="ftr" idx="11"/>
          </p:nvPr>
        </p:nvSpPr>
        <p:spPr>
          <a:xfrm>
            <a:off x="3122488" y="6373546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26" name="Google Shape;26;p14"/>
          <p:cNvSpPr txBox="1">
            <a:spLocks noGrp="1"/>
          </p:cNvSpPr>
          <p:nvPr>
            <p:ph type="sldNum" idx="12"/>
          </p:nvPr>
        </p:nvSpPr>
        <p:spPr>
          <a:xfrm>
            <a:off x="6553200" y="637354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 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 panose="020F0502020204030204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9" name="Google Shape;29;p1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0" name="Google Shape;30;p15"/>
          <p:cNvSpPr txBox="1">
            <a:spLocks noGrp="1"/>
          </p:cNvSpPr>
          <p:nvPr>
            <p:ph type="dt" idx="10"/>
          </p:nvPr>
        </p:nvSpPr>
        <p:spPr>
          <a:xfrm>
            <a:off x="457200" y="6381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1" name="Google Shape;31;p15"/>
          <p:cNvSpPr txBox="1">
            <a:spLocks noGrp="1"/>
          </p:cNvSpPr>
          <p:nvPr>
            <p:ph type="ftr" idx="11"/>
          </p:nvPr>
        </p:nvSpPr>
        <p:spPr>
          <a:xfrm>
            <a:off x="3122488" y="6373546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32" name="Google Shape;32;p15"/>
          <p:cNvSpPr txBox="1">
            <a:spLocks noGrp="1"/>
          </p:cNvSpPr>
          <p:nvPr>
            <p:ph type="sldNum" idx="12"/>
          </p:nvPr>
        </p:nvSpPr>
        <p:spPr>
          <a:xfrm>
            <a:off x="6553200" y="637354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 Conte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>
            <a:spLocks noGrp="1"/>
          </p:cNvSpPr>
          <p:nvPr>
            <p:ph type="title"/>
          </p:nvPr>
        </p:nvSpPr>
        <p:spPr>
          <a:xfrm>
            <a:off x="457200" y="12954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5" name="Google Shape;35;p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❑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▪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6" name="Google Shape;36;p1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❑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▪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7" name="Google Shape;37;p16"/>
          <p:cNvSpPr txBox="1">
            <a:spLocks noGrp="1"/>
          </p:cNvSpPr>
          <p:nvPr>
            <p:ph type="dt" idx="10"/>
          </p:nvPr>
        </p:nvSpPr>
        <p:spPr>
          <a:xfrm>
            <a:off x="457200" y="6381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8" name="Google Shape;38;p16"/>
          <p:cNvSpPr txBox="1">
            <a:spLocks noGrp="1"/>
          </p:cNvSpPr>
          <p:nvPr>
            <p:ph type="ftr" idx="11"/>
          </p:nvPr>
        </p:nvSpPr>
        <p:spPr>
          <a:xfrm>
            <a:off x="3122488" y="6373546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39" name="Google Shape;39;p16"/>
          <p:cNvSpPr txBox="1">
            <a:spLocks noGrp="1"/>
          </p:cNvSpPr>
          <p:nvPr>
            <p:ph type="sldNum" idx="12"/>
          </p:nvPr>
        </p:nvSpPr>
        <p:spPr>
          <a:xfrm>
            <a:off x="6553200" y="637354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Comparis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>
            <a:spLocks noGrp="1"/>
          </p:cNvSpPr>
          <p:nvPr>
            <p:ph type="title"/>
          </p:nvPr>
        </p:nvSpPr>
        <p:spPr>
          <a:xfrm>
            <a:off x="457200" y="12954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 panose="020F0502020204030204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2" name="Google Shape;42;p1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3" name="Google Shape;43;p1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❑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4" name="Google Shape;44;p1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5" name="Google Shape;45;p1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❑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6" name="Google Shape;46;p17"/>
          <p:cNvSpPr txBox="1">
            <a:spLocks noGrp="1"/>
          </p:cNvSpPr>
          <p:nvPr>
            <p:ph type="dt" idx="10"/>
          </p:nvPr>
        </p:nvSpPr>
        <p:spPr>
          <a:xfrm>
            <a:off x="457200" y="6381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7" name="Google Shape;47;p17"/>
          <p:cNvSpPr txBox="1">
            <a:spLocks noGrp="1"/>
          </p:cNvSpPr>
          <p:nvPr>
            <p:ph type="ftr" idx="11"/>
          </p:nvPr>
        </p:nvSpPr>
        <p:spPr>
          <a:xfrm>
            <a:off x="3122488" y="6373546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48" name="Google Shape;48;p17"/>
          <p:cNvSpPr txBox="1">
            <a:spLocks noGrp="1"/>
          </p:cNvSpPr>
          <p:nvPr>
            <p:ph type="sldNum" idx="12"/>
          </p:nvPr>
        </p:nvSpPr>
        <p:spPr>
          <a:xfrm>
            <a:off x="6553200" y="637354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 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>
            <a:spLocks noGrp="1"/>
          </p:cNvSpPr>
          <p:nvPr>
            <p:ph type="title"/>
          </p:nvPr>
        </p:nvSpPr>
        <p:spPr>
          <a:xfrm>
            <a:off x="457200" y="12954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1" name="Google Shape;51;p18"/>
          <p:cNvSpPr txBox="1">
            <a:spLocks noGrp="1"/>
          </p:cNvSpPr>
          <p:nvPr>
            <p:ph type="dt" idx="10"/>
          </p:nvPr>
        </p:nvSpPr>
        <p:spPr>
          <a:xfrm>
            <a:off x="457200" y="6381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2" name="Google Shape;52;p18"/>
          <p:cNvSpPr txBox="1">
            <a:spLocks noGrp="1"/>
          </p:cNvSpPr>
          <p:nvPr>
            <p:ph type="ftr" idx="11"/>
          </p:nvPr>
        </p:nvSpPr>
        <p:spPr>
          <a:xfrm>
            <a:off x="3122488" y="6373546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53" name="Google Shape;53;p18"/>
          <p:cNvSpPr txBox="1">
            <a:spLocks noGrp="1"/>
          </p:cNvSpPr>
          <p:nvPr>
            <p:ph type="sldNum" idx="12"/>
          </p:nvPr>
        </p:nvSpPr>
        <p:spPr>
          <a:xfrm>
            <a:off x="6553200" y="637354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>
            <a:spLocks noGrp="1"/>
          </p:cNvSpPr>
          <p:nvPr>
            <p:ph type="dt" idx="10"/>
          </p:nvPr>
        </p:nvSpPr>
        <p:spPr>
          <a:xfrm>
            <a:off x="457200" y="6381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6" name="Google Shape;56;p19"/>
          <p:cNvSpPr txBox="1">
            <a:spLocks noGrp="1"/>
          </p:cNvSpPr>
          <p:nvPr>
            <p:ph type="ftr" idx="11"/>
          </p:nvPr>
        </p:nvSpPr>
        <p:spPr>
          <a:xfrm>
            <a:off x="3122488" y="6373546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57" name="Google Shape;57;p19"/>
          <p:cNvSpPr txBox="1">
            <a:spLocks noGrp="1"/>
          </p:cNvSpPr>
          <p:nvPr>
            <p:ph type="sldNum" idx="12"/>
          </p:nvPr>
        </p:nvSpPr>
        <p:spPr>
          <a:xfrm>
            <a:off x="6553200" y="637354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Content with Caption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0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0" name="Google Shape;60;p20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❑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▪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▪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1" name="Google Shape;61;p20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2" name="Google Shape;62;p20"/>
          <p:cNvSpPr txBox="1">
            <a:spLocks noGrp="1"/>
          </p:cNvSpPr>
          <p:nvPr>
            <p:ph type="dt" idx="10"/>
          </p:nvPr>
        </p:nvSpPr>
        <p:spPr>
          <a:xfrm>
            <a:off x="457200" y="6381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3" name="Google Shape;63;p20"/>
          <p:cNvSpPr txBox="1">
            <a:spLocks noGrp="1"/>
          </p:cNvSpPr>
          <p:nvPr>
            <p:ph type="ftr" idx="11"/>
          </p:nvPr>
        </p:nvSpPr>
        <p:spPr>
          <a:xfrm>
            <a:off x="3122488" y="6373546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64" name="Google Shape;64;p20"/>
          <p:cNvSpPr txBox="1">
            <a:spLocks noGrp="1"/>
          </p:cNvSpPr>
          <p:nvPr>
            <p:ph type="sldNum" idx="12"/>
          </p:nvPr>
        </p:nvSpPr>
        <p:spPr>
          <a:xfrm>
            <a:off x="6553200" y="637354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 with Caption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1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7" name="Google Shape;67;p21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r>
              <a:rPr lang="en-US"/>
              <a:t>Click icon to add picture</a:t>
            </a:r>
            <a:endParaRPr dirty="0"/>
          </a:p>
        </p:txBody>
      </p:sp>
      <p:sp>
        <p:nvSpPr>
          <p:cNvPr id="68" name="Google Shape;68;p21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9" name="Google Shape;69;p21"/>
          <p:cNvSpPr txBox="1">
            <a:spLocks noGrp="1"/>
          </p:cNvSpPr>
          <p:nvPr>
            <p:ph type="dt" idx="10"/>
          </p:nvPr>
        </p:nvSpPr>
        <p:spPr>
          <a:xfrm>
            <a:off x="457200" y="6381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70" name="Google Shape;70;p21"/>
          <p:cNvSpPr txBox="1">
            <a:spLocks noGrp="1"/>
          </p:cNvSpPr>
          <p:nvPr>
            <p:ph type="ftr" idx="11"/>
          </p:nvPr>
        </p:nvSpPr>
        <p:spPr>
          <a:xfrm>
            <a:off x="3122488" y="6373546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71" name="Google Shape;71;p21"/>
          <p:cNvSpPr txBox="1">
            <a:spLocks noGrp="1"/>
          </p:cNvSpPr>
          <p:nvPr>
            <p:ph type="sldNum" idx="12"/>
          </p:nvPr>
        </p:nvSpPr>
        <p:spPr>
          <a:xfrm>
            <a:off x="6553200" y="637354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Title and Vertical 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2"/>
          <p:cNvSpPr txBox="1">
            <a:spLocks noGrp="1"/>
          </p:cNvSpPr>
          <p:nvPr>
            <p:ph type="title"/>
          </p:nvPr>
        </p:nvSpPr>
        <p:spPr>
          <a:xfrm>
            <a:off x="457200" y="12954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4" name="Google Shape;74;p22"/>
          <p:cNvSpPr txBox="1">
            <a:spLocks noGrp="1"/>
          </p:cNvSpPr>
          <p:nvPr>
            <p:ph type="body" idx="1"/>
          </p:nvPr>
        </p:nvSpPr>
        <p:spPr>
          <a:xfrm rot="5400000">
            <a:off x="2536824" y="206375"/>
            <a:ext cx="4070351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❑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75" name="Google Shape;75;p22"/>
          <p:cNvSpPr txBox="1">
            <a:spLocks noGrp="1"/>
          </p:cNvSpPr>
          <p:nvPr>
            <p:ph type="dt" idx="10"/>
          </p:nvPr>
        </p:nvSpPr>
        <p:spPr>
          <a:xfrm>
            <a:off x="457200" y="6381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76" name="Google Shape;76;p22"/>
          <p:cNvSpPr txBox="1">
            <a:spLocks noGrp="1"/>
          </p:cNvSpPr>
          <p:nvPr>
            <p:ph type="ftr" idx="11"/>
          </p:nvPr>
        </p:nvSpPr>
        <p:spPr>
          <a:xfrm>
            <a:off x="3122488" y="6373546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77" name="Google Shape;77;p22"/>
          <p:cNvSpPr txBox="1">
            <a:spLocks noGrp="1"/>
          </p:cNvSpPr>
          <p:nvPr>
            <p:ph type="sldNum" idx="12"/>
          </p:nvPr>
        </p:nvSpPr>
        <p:spPr>
          <a:xfrm>
            <a:off x="6553200" y="637354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 Title and 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3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0" name="Google Shape;80;p23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❑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81" name="Google Shape;81;p23"/>
          <p:cNvSpPr txBox="1">
            <a:spLocks noGrp="1"/>
          </p:cNvSpPr>
          <p:nvPr>
            <p:ph type="dt" idx="10"/>
          </p:nvPr>
        </p:nvSpPr>
        <p:spPr>
          <a:xfrm>
            <a:off x="457200" y="6381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2" name="Google Shape;82;p23"/>
          <p:cNvSpPr txBox="1">
            <a:spLocks noGrp="1"/>
          </p:cNvSpPr>
          <p:nvPr>
            <p:ph type="ftr" idx="11"/>
          </p:nvPr>
        </p:nvSpPr>
        <p:spPr>
          <a:xfrm>
            <a:off x="3122488" y="6373546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83" name="Google Shape;83;p23"/>
          <p:cNvSpPr txBox="1">
            <a:spLocks noGrp="1"/>
          </p:cNvSpPr>
          <p:nvPr>
            <p:ph type="sldNum" idx="12"/>
          </p:nvPr>
        </p:nvSpPr>
        <p:spPr>
          <a:xfrm>
            <a:off x="6553200" y="637354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2"/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>
            <a:spLocks noGrp="1"/>
          </p:cNvSpPr>
          <p:nvPr>
            <p:ph type="title"/>
          </p:nvPr>
        </p:nvSpPr>
        <p:spPr>
          <a:xfrm>
            <a:off x="457200" y="12954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 panose="020F0502020204030204"/>
              <a:buNone/>
              <a:defRPr sz="36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2"/>
          <p:cNvSpPr txBox="1">
            <a:spLocks noGrp="1"/>
          </p:cNvSpPr>
          <p:nvPr>
            <p:ph type="body" idx="1"/>
          </p:nvPr>
        </p:nvSpPr>
        <p:spPr>
          <a:xfrm>
            <a:off x="457200" y="2286000"/>
            <a:ext cx="8229600" cy="4070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2" name="Google Shape;12;p12"/>
          <p:cNvSpPr txBox="1">
            <a:spLocks noGrp="1"/>
          </p:cNvSpPr>
          <p:nvPr>
            <p:ph type="dt" idx="10"/>
          </p:nvPr>
        </p:nvSpPr>
        <p:spPr>
          <a:xfrm>
            <a:off x="457200" y="6381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3" name="Google Shape;13;p12"/>
          <p:cNvSpPr txBox="1">
            <a:spLocks noGrp="1"/>
          </p:cNvSpPr>
          <p:nvPr>
            <p:ph type="ftr" idx="11"/>
          </p:nvPr>
        </p:nvSpPr>
        <p:spPr>
          <a:xfrm>
            <a:off x="3122488" y="6373546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 lang="en-US"/>
          </a:p>
        </p:txBody>
      </p:sp>
      <p:sp>
        <p:nvSpPr>
          <p:cNvPr id="14" name="Google Shape;14;p12"/>
          <p:cNvSpPr txBox="1">
            <a:spLocks noGrp="1"/>
          </p:cNvSpPr>
          <p:nvPr>
            <p:ph type="sldNum" idx="12"/>
          </p:nvPr>
        </p:nvSpPr>
        <p:spPr>
          <a:xfrm>
            <a:off x="6553200" y="637354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18253"/>
            <a:ext cx="8537510" cy="1138334"/>
          </a:xfrm>
        </p:spPr>
        <p:txBody>
          <a:bodyPr>
            <a:normAutofit fontScale="90000"/>
          </a:bodyPr>
          <a:lstStyle/>
          <a:p>
            <a:r>
              <a:rPr dirty="0"/>
              <a:t>Voting Machine Using Boolean Simplification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556587"/>
            <a:ext cx="6400800" cy="3797559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BTech Computer Engineering (A2)</a:t>
            </a:r>
            <a:endParaRPr lang="en-US" sz="2000" dirty="0">
              <a:solidFill>
                <a:schemeClr val="tx1"/>
              </a:solidFill>
            </a:endParaRPr>
          </a:p>
          <a:p>
            <a:endParaRPr sz="2000" dirty="0"/>
          </a:p>
          <a:p>
            <a:r>
              <a:rPr sz="2000" dirty="0"/>
              <a:t>Presented by: </a:t>
            </a:r>
            <a:endParaRPr lang="en-US" sz="2000" dirty="0"/>
          </a:p>
          <a:p>
            <a:r>
              <a:rPr sz="2000" dirty="0"/>
              <a:t>Gitanjali Jain (B243)</a:t>
            </a:r>
            <a:endParaRPr lang="en-US" sz="2000" dirty="0"/>
          </a:p>
          <a:p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Introduction</a:t>
            </a:r>
            <a:endParaRPr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0" y="2273414"/>
            <a:ext cx="9032032" cy="4016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Voting Machine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a digital system designed to record and evaluate votes electronically.</a:t>
            </a: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 this project, we design a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combinational logic circuit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that determines </a:t>
            </a: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majority output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among three voters.</a:t>
            </a: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Each input represents a voter’s choice in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binary form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         1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Voter supports the candidate</a:t>
            </a: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         0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Voter does not support the candidate</a:t>
            </a: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system’s output will be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 (Win)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if the candidate receives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two or more votes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representing a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majority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circuit implements the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majority logic function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one of the basic combinational logic applications.</a:t>
            </a: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Using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Boolean algebra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K-map simplification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 reduce the circuit to use the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minimum number of logic gates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efficient implementation.</a:t>
            </a: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Such digital systems form the foundation of 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modern electronic voting and decision-making systems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real-world applications.</a:t>
            </a: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• There are 3 voters: A, B, C.</a:t>
            </a:r>
          </a:p>
          <a:p>
            <a:pPr>
              <a:defRPr sz="1800"/>
            </a:pPr>
            <a:r>
              <a:t>• Each voter can vote (1) or not vote (0).</a:t>
            </a:r>
          </a:p>
          <a:p>
            <a:pPr>
              <a:defRPr sz="1800"/>
            </a:pPr>
            <a:r>
              <a:t>• The candidate wins if two or more votes are given.</a:t>
            </a:r>
          </a:p>
          <a:p>
            <a:pPr>
              <a:defRPr sz="1800"/>
            </a:pPr>
            <a:r>
              <a:t>• Output F = 1 → Candidate wins</a:t>
            </a:r>
          </a:p>
          <a:p>
            <a:pPr>
              <a:defRPr sz="1800"/>
            </a:pPr>
            <a:r>
              <a:t>• Output F = 0 → Candidate loses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Truth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457200" y="2286000"/>
            <a:ext cx="8229600" cy="4404049"/>
          </a:xfrm>
        </p:spPr>
        <p:txBody>
          <a:bodyPr/>
          <a:lstStyle/>
          <a:p>
            <a:endParaRPr dirty="0"/>
          </a:p>
          <a:p>
            <a:pPr>
              <a:defRPr sz="1800"/>
            </a:pPr>
            <a:r>
              <a:rPr dirty="0"/>
              <a:t>The output is 1 when at least two inputs are 1 (majority votes).</a:t>
            </a:r>
            <a:endParaRPr dirty="0"/>
          </a:p>
        </p:txBody>
      </p:sp>
      <p:pic>
        <p:nvPicPr>
          <p:cNvPr id="4" name="Picture 3" descr="truth_tabl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135" y="3247052"/>
            <a:ext cx="8005665" cy="299512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Boolean Simplification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Expression from Truth Table: F = A′BC + AB′C + ABC′ + ABC</a:t>
            </a:r>
          </a:p>
          <a:p>
            <a:pPr>
              <a:defRPr sz="1800"/>
            </a:pPr>
            <a:r>
              <a:t>Simplified using Boolean Algebra or K-map:</a:t>
            </a:r>
          </a:p>
          <a:p>
            <a:pPr>
              <a:defRPr sz="1800"/>
            </a:pPr>
            <a:r>
              <a:t>F = AB + BC + AC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Circuit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• Three 2-input AND gates: (A·B), (B·C), (A·C)</a:t>
            </a:r>
          </a:p>
          <a:p>
            <a:pPr>
              <a:defRPr sz="1800"/>
            </a:pPr>
            <a:r>
              <a:t>• Outputs of AND gates are fed to a 3-input OR gate.</a:t>
            </a:r>
          </a:p>
          <a:p>
            <a:pPr>
              <a:defRPr sz="1800"/>
            </a:pPr>
            <a:r>
              <a:t>• Final output F = AB + BC + AC</a:t>
            </a:r>
          </a:p>
          <a:p>
            <a:pPr>
              <a:defRPr sz="1800"/>
            </a:pPr>
            <a:r>
              <a:t>• LED indicates the winner (majority votes).</a:t>
            </a:r>
          </a:p>
        </p:txBody>
      </p:sp>
      <p:pic>
        <p:nvPicPr>
          <p:cNvPr id="4" name="Picture 3" descr="logic_circuit.pn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55773" y="3564294"/>
            <a:ext cx="3331028" cy="249827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Components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Hardware:</a:t>
            </a:r>
          </a:p>
          <a:p>
            <a:pPr>
              <a:defRPr sz="1800"/>
            </a:pPr>
            <a:r>
              <a:t>• IC 7408 (AND Gate)</a:t>
            </a:r>
          </a:p>
          <a:p>
            <a:pPr>
              <a:defRPr sz="1800"/>
            </a:pPr>
            <a:r>
              <a:t>• IC 7432 (OR Gate)</a:t>
            </a:r>
          </a:p>
          <a:p>
            <a:pPr>
              <a:defRPr sz="1800"/>
            </a:pPr>
            <a:r>
              <a:t>• 3 Toggle Switches (Inputs A, B, C)</a:t>
            </a:r>
          </a:p>
          <a:p>
            <a:pPr>
              <a:defRPr sz="1800"/>
            </a:pPr>
            <a:r>
              <a:t>• 1 LED + Resistor (Output Indicator)</a:t>
            </a:r>
          </a:p>
          <a:p>
            <a:pPr>
              <a:defRPr sz="1800"/>
            </a:pPr>
            <a:r>
              <a:t>• Breadboard &amp; Wires, 5V DC Supply</a:t>
            </a:r>
          </a:p>
          <a:p>
            <a:pPr>
              <a:defRPr sz="1800"/>
            </a:pPr>
            <a:r>
              <a:t>Software (Optional): Logisim / Proteus / Tinkercad / Multisim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• Each switch represents a voter.</a:t>
            </a:r>
          </a:p>
          <a:p>
            <a:pPr>
              <a:defRPr sz="1800"/>
            </a:pPr>
            <a:r>
              <a:t>• When two or more switches are ON (1), the LED glows.</a:t>
            </a:r>
          </a:p>
          <a:p>
            <a:pPr>
              <a:defRPr sz="1800"/>
            </a:pPr>
            <a:r>
              <a:t>• When fewer than two switches are ON, LED stays OFF.</a:t>
            </a:r>
          </a:p>
          <a:p>
            <a:pPr>
              <a:defRPr sz="1800"/>
            </a:pPr>
            <a:r>
              <a:t>• This demonstrates the majority voting logic.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Working model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rcRect t="9825" b="8518"/>
          <a:stretch>
            <a:fillRect/>
          </a:stretch>
        </p:blipFill>
        <p:spPr>
          <a:xfrm>
            <a:off x="0" y="2221192"/>
            <a:ext cx="9144000" cy="419996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• Successfully designed a Voting Machine using Boolean simplification.</a:t>
            </a:r>
          </a:p>
          <a:p>
            <a:pPr>
              <a:defRPr sz="1800"/>
            </a:pPr>
            <a:r>
              <a:t>• Implemented using AND-OR logic gates to find majority output.</a:t>
            </a:r>
          </a:p>
          <a:p>
            <a:pPr>
              <a:defRPr sz="1800"/>
            </a:pPr>
            <a:r>
              <a:t>• Can be extended to n-voters or microcontroller-based system.</a:t>
            </a:r>
          </a:p>
          <a:p>
            <a:pPr>
              <a:defRPr sz="1800"/>
            </a:pPr>
            <a:r>
              <a:t>• Demonstrates real-world application of logic gate theory.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 &amp; Acknowledgement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• Digital Logic Design – Morris Mano</a:t>
            </a:r>
          </a:p>
          <a:p>
            <a:pPr>
              <a:defRPr sz="1800"/>
            </a:pPr>
            <a:r>
              <a:t>• Simulation Tools: Logisim, Tinkercad Circuits</a:t>
            </a:r>
          </a:p>
          <a:p>
            <a:pPr>
              <a:defRPr sz="1800"/>
            </a:pPr>
            <a:r>
              <a:t>• Guided by: Nazia Hussain</a:t>
            </a:r>
          </a:p>
          <a:p>
            <a:pPr>
              <a:defRPr sz="1800"/>
            </a:pPr>
            <a:r>
              <a:t>• Presented by: Gitanjali Jain (B243)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pstme templat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mpstme template</Template>
  <TotalTime>0</TotalTime>
  <Words>2442</Words>
  <Application>WPS Presentation</Application>
  <PresentationFormat>On-screen Show (4:3)</PresentationFormat>
  <Paragraphs>80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1" baseType="lpstr">
      <vt:lpstr>Arial</vt:lpstr>
      <vt:lpstr>SimSun</vt:lpstr>
      <vt:lpstr>Wingdings</vt:lpstr>
      <vt:lpstr>Arial</vt:lpstr>
      <vt:lpstr>Calibri</vt:lpstr>
      <vt:lpstr>Noto Sans Symbols</vt:lpstr>
      <vt:lpstr>Arial Unicode MS</vt:lpstr>
      <vt:lpstr>Microsoft YaHei</vt:lpstr>
      <vt:lpstr>Arial Unicode MS</vt:lpstr>
      <vt:lpstr>mpstme template</vt:lpstr>
      <vt:lpstr>Voting Machine Using Boolean Simplification</vt:lpstr>
      <vt:lpstr>Introduction</vt:lpstr>
      <vt:lpstr>Problem Statement</vt:lpstr>
      <vt:lpstr>Truth Table</vt:lpstr>
      <vt:lpstr>Boolean Simplification</vt:lpstr>
      <vt:lpstr>Circuit Diagram</vt:lpstr>
      <vt:lpstr>Components Used</vt:lpstr>
      <vt:lpstr>Working</vt:lpstr>
      <vt:lpstr>Working model </vt:lpstr>
      <vt:lpstr>Conclusion &amp; Future Scope</vt:lpstr>
      <vt:lpstr>References &amp; Acknowledgement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GINNIII!</dc:creator>
  <dc:description>generated using python-pptx</dc:description>
  <cp:lastModifiedBy>Aditya</cp:lastModifiedBy>
  <cp:revision>5</cp:revision>
  <dcterms:created xsi:type="dcterms:W3CDTF">2013-01-27T09:14:00Z</dcterms:created>
  <dcterms:modified xsi:type="dcterms:W3CDTF">2026-06-04T05:13:21Z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55A92D8B67A940BABA8CAFB02FCBEDD4_12</vt:lpwstr>
  </property>
  <property fmtid="{D5CDD505-2E9C-101B-9397-08002B2CF9AE}" pid="3" name="KSOProductBuildVer">
    <vt:lpwstr>1033-12.1.0.26880</vt:lpwstr>
  </property>
</Properties>
</file>